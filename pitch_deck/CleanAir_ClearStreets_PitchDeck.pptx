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AQI</c:v>
                </c:pt>
              </c:strCache>
            </c:strRef>
          </c:tx>
          <c:spPr>
            <a:solidFill>
              <a:srgbClr val="D0342C"/>
            </a:solidFill>
            <a:ln w="31750" cap="flat">
              <a:solidFill>
                <a:srgbClr val="D034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0342C"/>
              </a:solidFill>
              <a:ln w="9525" cap="flat">
                <a:solidFill>
                  <a:srgbClr val="D034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  <c:pt idx="10">
                    <c:v>D11</c:v>
                  </c:pt>
                  <c:pt idx="11">
                    <c:v>D12</c:v>
                  </c:pt>
                  <c:pt idx="12">
                    <c:v>D13</c:v>
                  </c:pt>
                  <c:pt idx="13">
                    <c:v>D14</c:v>
                  </c:pt>
                  <c:pt idx="14">
                    <c:v>D15</c:v>
                  </c:pt>
                  <c:pt idx="15">
                    <c:v>D16</c:v>
                  </c:pt>
                  <c:pt idx="16">
                    <c:v>D17</c:v>
                  </c:pt>
                  <c:pt idx="17">
                    <c:v>D18</c:v>
                  </c:pt>
                  <c:pt idx="18">
                    <c:v>D19</c:v>
                  </c:pt>
                  <c:pt idx="19">
                    <c:v>D20</c:v>
                  </c:pt>
                  <c:pt idx="20">
                    <c:v>D21</c:v>
                  </c:pt>
                  <c:pt idx="21">
                    <c:v>D22</c:v>
                  </c:pt>
                  <c:pt idx="22">
                    <c:v>D23</c:v>
                  </c:pt>
                  <c:pt idx="23">
                    <c:v>D24</c:v>
                  </c:pt>
                  <c:pt idx="24">
                    <c:v>D25</c:v>
                  </c:pt>
                  <c:pt idx="25">
                    <c:v>D26</c:v>
                  </c:pt>
                  <c:pt idx="26">
                    <c:v>D27</c:v>
                  </c:pt>
                  <c:pt idx="27">
                    <c:v>D28</c:v>
                  </c:pt>
                  <c:pt idx="28">
                    <c:v>D29</c:v>
                  </c:pt>
                  <c:pt idx="29">
                    <c:v>D30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170.4</c:v>
                </c:pt>
                <c:pt idx="1">
                  <c:v>239.6</c:v>
                </c:pt>
                <c:pt idx="2">
                  <c:v>308.3</c:v>
                </c:pt>
                <c:pt idx="3">
                  <c:v>308.5</c:v>
                </c:pt>
                <c:pt idx="4">
                  <c:v>420.9</c:v>
                </c:pt>
                <c:pt idx="5">
                  <c:v>511.1</c:v>
                </c:pt>
                <c:pt idx="6">
                  <c:v>235.5</c:v>
                </c:pt>
                <c:pt idx="7">
                  <c:v>243.9</c:v>
                </c:pt>
                <c:pt idx="8">
                  <c:v>252.9</c:v>
                </c:pt>
                <c:pt idx="9">
                  <c:v>285.7</c:v>
                </c:pt>
                <c:pt idx="10">
                  <c:v>293.3</c:v>
                </c:pt>
                <c:pt idx="11">
                  <c:v>293.4</c:v>
                </c:pt>
                <c:pt idx="12">
                  <c:v>204.4</c:v>
                </c:pt>
                <c:pt idx="13">
                  <c:v>383.1</c:v>
                </c:pt>
                <c:pt idx="14">
                  <c:v>327.2</c:v>
                </c:pt>
                <c:pt idx="15">
                  <c:v>374</c:v>
                </c:pt>
                <c:pt idx="16">
                  <c:v>318.5</c:v>
                </c:pt>
                <c:pt idx="17">
                  <c:v>197</c:v>
                </c:pt>
                <c:pt idx="18">
                  <c:v>237.9</c:v>
                </c:pt>
                <c:pt idx="19">
                  <c:v>187</c:v>
                </c:pt>
                <c:pt idx="20">
                  <c:v>127.4</c:v>
                </c:pt>
                <c:pt idx="21">
                  <c:v>181.1</c:v>
                </c:pt>
                <c:pt idx="22">
                  <c:v>148.7</c:v>
                </c:pt>
                <c:pt idx="23">
                  <c:v>292.5</c:v>
                </c:pt>
                <c:pt idx="24">
                  <c:v>418.9</c:v>
                </c:pt>
                <c:pt idx="25">
                  <c:v>132.8</c:v>
                </c:pt>
                <c:pt idx="26">
                  <c:v>80.6</c:v>
                </c:pt>
                <c:pt idx="27">
                  <c:v>57.6</c:v>
                </c:pt>
                <c:pt idx="28">
                  <c:v>143.2</c:v>
                </c:pt>
                <c:pt idx="29">
                  <c:v>205.2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"Poor" threshold (200)</c:v>
                </c:pt>
              </c:strCache>
            </c:strRef>
          </c:tx>
          <c:spPr>
            <a:solidFill>
              <a:srgbClr val="667085"/>
            </a:solidFill>
            <a:ln w="12700" cap="flat">
              <a:solidFill>
                <a:srgbClr val="667085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67085"/>
              </a:solidFill>
              <a:ln w="9525" cap="flat">
                <a:solidFill>
                  <a:srgbClr val="6670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  <c:pt idx="10">
                    <c:v>D11</c:v>
                  </c:pt>
                  <c:pt idx="11">
                    <c:v>D12</c:v>
                  </c:pt>
                  <c:pt idx="12">
                    <c:v>D13</c:v>
                  </c:pt>
                  <c:pt idx="13">
                    <c:v>D14</c:v>
                  </c:pt>
                  <c:pt idx="14">
                    <c:v>D15</c:v>
                  </c:pt>
                  <c:pt idx="15">
                    <c:v>D16</c:v>
                  </c:pt>
                  <c:pt idx="16">
                    <c:v>D17</c:v>
                  </c:pt>
                  <c:pt idx="17">
                    <c:v>D18</c:v>
                  </c:pt>
                  <c:pt idx="18">
                    <c:v>D19</c:v>
                  </c:pt>
                  <c:pt idx="19">
                    <c:v>D20</c:v>
                  </c:pt>
                  <c:pt idx="20">
                    <c:v>D21</c:v>
                  </c:pt>
                  <c:pt idx="21">
                    <c:v>D22</c:v>
                  </c:pt>
                  <c:pt idx="22">
                    <c:v>D23</c:v>
                  </c:pt>
                  <c:pt idx="23">
                    <c:v>D24</c:v>
                  </c:pt>
                  <c:pt idx="24">
                    <c:v>D25</c:v>
                  </c:pt>
                  <c:pt idx="25">
                    <c:v>D26</c:v>
                  </c:pt>
                  <c:pt idx="26">
                    <c:v>D27</c:v>
                  </c:pt>
                  <c:pt idx="27">
                    <c:v>D28</c:v>
                  </c:pt>
                  <c:pt idx="28">
                    <c:v>D29</c:v>
                  </c:pt>
                  <c:pt idx="29">
                    <c:v>D30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200</c:v>
                </c:pt>
                <c:pt idx="6">
                  <c:v>200</c:v>
                </c:pt>
                <c:pt idx="7">
                  <c:v>200</c:v>
                </c:pt>
                <c:pt idx="8">
                  <c:v>200</c:v>
                </c:pt>
                <c:pt idx="9">
                  <c:v>200</c:v>
                </c:pt>
                <c:pt idx="10">
                  <c:v>200</c:v>
                </c:pt>
                <c:pt idx="11">
                  <c:v>200</c:v>
                </c:pt>
                <c:pt idx="12">
                  <c:v>200</c:v>
                </c:pt>
                <c:pt idx="13">
                  <c:v>200</c:v>
                </c:pt>
                <c:pt idx="14">
                  <c:v>200</c:v>
                </c:pt>
                <c:pt idx="15">
                  <c:v>200</c:v>
                </c:pt>
                <c:pt idx="16">
                  <c:v>200</c:v>
                </c:pt>
                <c:pt idx="17">
                  <c:v>200</c:v>
                </c:pt>
                <c:pt idx="18">
                  <c:v>200</c:v>
                </c:pt>
                <c:pt idx="19">
                  <c:v>200</c:v>
                </c:pt>
                <c:pt idx="20">
                  <c:v>200</c:v>
                </c:pt>
                <c:pt idx="21">
                  <c:v>200</c:v>
                </c:pt>
                <c:pt idx="22">
                  <c:v>200</c:v>
                </c:pt>
                <c:pt idx="23">
                  <c:v>200</c:v>
                </c:pt>
                <c:pt idx="24">
                  <c:v>200</c:v>
                </c:pt>
                <c:pt idx="25">
                  <c:v>200</c:v>
                </c:pt>
                <c:pt idx="26">
                  <c:v>200</c:v>
                </c:pt>
                <c:pt idx="27">
                  <c:v>200</c:v>
                </c:pt>
                <c:pt idx="28">
                  <c:v>200</c:v>
                </c:pt>
                <c:pt idx="29">
                  <c:v>200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098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98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en-lang-client-0882700239.web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en-lang-client-0882700239.web.app" TargetMode="External"/><Relationship Id="rId2" Type="http://schemas.openxmlformats.org/officeDocument/2006/relationships/hyperlink" Target="https://github.com/anujtrivedi06/cleanair-clearstreet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CleanAir &amp; Clear Streets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F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pollution hotspot detection &amp; forecasting for Delhi NCR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AI: Code for Communities — Track 2</a:t>
            </a:r>
            <a:endParaRPr lang="en-US" sz="12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u="sng" dirty="0">
                <a:solidFill>
                  <a:srgbClr val="9FD3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at gen-lang-client-0882700239.web.app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640080" cy="64008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AQI apps miss hyper-local pollution events. These blind spots directly harm nearby residents, and municipal teams have no way to know where to deploy cleanup crews or water-mist cannons before a spike happens.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11680" y="3063240"/>
            <a:ext cx="822960" cy="822960"/>
          </a:xfrm>
          <a:prstGeom prst="ellipse">
            <a:avLst/>
          </a:prstGeom>
          <a:solidFill>
            <a:srgbClr val="FDEDD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46" y="3248406"/>
            <a:ext cx="452628" cy="452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4069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dump fires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05840" y="4617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Localized, short-lived, invisible to city sensors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434840" y="27432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715000" y="3063240"/>
            <a:ext cx="822960" cy="822960"/>
          </a:xfrm>
          <a:prstGeom prst="ellipse">
            <a:avLst/>
          </a:prstGeom>
          <a:solidFill>
            <a:srgbClr val="FDEDD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166" y="3248406"/>
            <a:ext cx="452628" cy="4526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4069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clusters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09160" y="4617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emissions in specific pockets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38160" y="27432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418320" y="3063240"/>
            <a:ext cx="822960" cy="822960"/>
          </a:xfrm>
          <a:prstGeom prst="ellipse">
            <a:avLst/>
          </a:prstGeom>
          <a:solidFill>
            <a:srgbClr val="FDEDD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486" y="3248406"/>
            <a:ext cx="452628" cy="4526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21040" y="4069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Smog-trapping junctions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412480" y="4617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+ geography creates hidden hotspots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640080" cy="64008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1B1F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46304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pollution map that fuses ground sensors, satellite data, and citizen photos into real-time hotspots, 24-hour forecasts, and plain-language AI briefings — in English and Hindi.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3017520"/>
            <a:ext cx="731520" cy="73152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1821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3017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31520" y="38862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CPCB sensors + satellite fire data + citizen photos into a per-zone hotspot score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34840" y="3017520"/>
            <a:ext cx="731520" cy="73152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318211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3017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4434840" y="38862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each zone's AQI 24 hours ahead using a model trained on live + historical data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138160" y="3017520"/>
            <a:ext cx="731520" cy="73152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3182112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52560" y="3017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8138160" y="38862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a plain-language briefing reasoning about likely cause — not just numbers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640080" cy="64008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60121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05840" y="1645920"/>
            <a:ext cx="731520" cy="73152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81051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1527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Photos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874520" y="1965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classifies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/ dust / haze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526280" y="14173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9160" y="1645920"/>
            <a:ext cx="731520" cy="73152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81051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77840" y="1527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Ground Sensors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577840" y="1965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PM2.5 / PM10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readings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229600" y="14173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412480" y="1645920"/>
            <a:ext cx="731520" cy="73152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81051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81160" y="1527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Satellite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281160" y="1965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fire / smoke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2368296" y="2651760"/>
            <a:ext cx="109728" cy="320040"/>
          </a:xfrm>
          <a:prstGeom prst="downArrow">
            <a:avLst/>
          </a:prstGeom>
          <a:solidFill>
            <a:srgbClr val="667085"/>
          </a:solidFill>
          <a:ln/>
        </p:spPr>
      </p:sp>
      <p:sp>
        <p:nvSpPr>
          <p:cNvPr id="21" name="Shape 15"/>
          <p:cNvSpPr/>
          <p:nvPr/>
        </p:nvSpPr>
        <p:spPr>
          <a:xfrm>
            <a:off x="6071616" y="2651760"/>
            <a:ext cx="109728" cy="320040"/>
          </a:xfrm>
          <a:prstGeom prst="downArrow">
            <a:avLst/>
          </a:prstGeom>
          <a:solidFill>
            <a:srgbClr val="667085"/>
          </a:solidFill>
          <a:ln/>
        </p:spPr>
      </p:sp>
      <p:sp>
        <p:nvSpPr>
          <p:cNvPr id="22" name="Shape 16"/>
          <p:cNvSpPr/>
          <p:nvPr/>
        </p:nvSpPr>
        <p:spPr>
          <a:xfrm>
            <a:off x="9774936" y="2651760"/>
            <a:ext cx="109728" cy="320040"/>
          </a:xfrm>
          <a:prstGeom prst="downArrow">
            <a:avLst/>
          </a:prstGeom>
          <a:solidFill>
            <a:srgbClr val="667085"/>
          </a:solidFill>
          <a:ln/>
        </p:spPr>
      </p:sp>
      <p:sp>
        <p:nvSpPr>
          <p:cNvPr id="23" name="Shape 17"/>
          <p:cNvSpPr/>
          <p:nvPr/>
        </p:nvSpPr>
        <p:spPr>
          <a:xfrm>
            <a:off x="822960" y="306324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B1F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51560" y="3246120"/>
            <a:ext cx="594360" cy="594360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291" y="3379851"/>
            <a:ext cx="326898" cy="32689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28800" y="3136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Fusion Engine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828800" y="3566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ground AQI + 30% satellite fire data + 20% citizen photo severity = one 0-1 score / zone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35040" y="4069080"/>
            <a:ext cx="109728" cy="274320"/>
          </a:xfrm>
          <a:prstGeom prst="downArrow">
            <a:avLst/>
          </a:prstGeom>
          <a:solidFill>
            <a:srgbClr val="667085"/>
          </a:solidFill>
          <a:ln/>
        </p:spPr>
      </p:sp>
      <p:sp>
        <p:nvSpPr>
          <p:cNvPr id="29" name="Shape 22"/>
          <p:cNvSpPr/>
          <p:nvPr/>
        </p:nvSpPr>
        <p:spPr>
          <a:xfrm>
            <a:off x="1645920" y="443484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828800" y="4636008"/>
            <a:ext cx="594360" cy="594360"/>
          </a:xfrm>
          <a:prstGeom prst="ellipse">
            <a:avLst/>
          </a:prstGeom>
          <a:solidFill>
            <a:srgbClr val="FDEDD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2531" y="4769739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606040" y="4544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AQI Prediction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2606040" y="4937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model, live + historical training data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766560" y="443484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949440" y="4636008"/>
            <a:ext cx="594360" cy="594360"/>
          </a:xfrm>
          <a:prstGeom prst="ellipse">
            <a:avLst/>
          </a:prstGeom>
          <a:solidFill>
            <a:srgbClr val="FDEDD3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3171" y="4769739"/>
            <a:ext cx="326898" cy="32689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726680" y="4544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AI Briefing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726680" y="4937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(Groq fallback) reasons about cause, EN + HI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035040" y="5486400"/>
            <a:ext cx="109728" cy="256032"/>
          </a:xfrm>
          <a:prstGeom prst="downArrow">
            <a:avLst/>
          </a:prstGeom>
          <a:solidFill>
            <a:srgbClr val="667085"/>
          </a:solidFill>
          <a:ln/>
        </p:spPr>
      </p:sp>
      <p:sp>
        <p:nvSpPr>
          <p:cNvPr id="40" name="Text 31"/>
          <p:cNvSpPr/>
          <p:nvPr/>
        </p:nvSpPr>
        <p:spPr>
          <a:xfrm>
            <a:off x="1645920" y="5760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map, ranked zones, alerts, EN/HI + voice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640080" cy="64008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Action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AI roles — each doing real interpretive work, not decoration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5" y="2074545"/>
            <a:ext cx="377190" cy="3771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1874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Classification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663440" y="18745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(via Firebase AI Logic) classifies each citizen photo into smoke, dust, garbage burning, haze, or none — with a severity score and a one-sentence reasoning, not just a label.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22960" y="3337560"/>
            <a:ext cx="685800" cy="68580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3491865"/>
            <a:ext cx="377190" cy="3771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83080" y="3291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Forecasting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663440" y="32918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model forecasts each zone's AQI 24 hours ahead, trained on real CPCB + weather data accumulated live, bootstrapped with historical reanalysis data — clearly tagged as such.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22960" y="4754880"/>
            <a:ext cx="685800" cy="68580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65" y="4909185"/>
            <a:ext cx="377190" cy="37719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83080" y="4709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Reasoning Briefing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4663440" y="47091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(falling back to Groq/Llama automatically if quota is exhausted) writes a plain-language briefing per zone — explaining likely cause, in English and Hindi, generated together in one call.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640080" cy="64008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60121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Dashboard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6858000" cy="4937760"/>
          </a:xfrm>
          <a:prstGeom prst="roundRect">
            <a:avLst>
              <a:gd name="adj" fmla="val 1111"/>
            </a:avLst>
          </a:prstGeom>
          <a:solidFill>
            <a:srgbClr val="F7F7F8"/>
          </a:solidFill>
          <a:ln w="19050">
            <a:solidFill>
              <a:srgbClr val="C7CBD1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731520" y="33832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dashboard screenshot here 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gen-lang-client-0882700239.web.app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63840" y="1554480"/>
            <a:ext cx="411480" cy="41148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423" y="1647063"/>
            <a:ext cx="226314" cy="2263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0" y="1508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ranked by AQI, colour-coded by severity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863840" y="2697480"/>
            <a:ext cx="411480" cy="41148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423" y="2790063"/>
            <a:ext cx="226314" cy="2263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2480" y="2651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with hotspot markers + school/hospital icons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863840" y="3840480"/>
            <a:ext cx="411480" cy="41148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423" y="3933063"/>
            <a:ext cx="226314" cy="2263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12480" y="3794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 per zone, in English or Hindi + voice playback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863840" y="4983480"/>
            <a:ext cx="411480" cy="41148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6423" y="5076063"/>
            <a:ext cx="226314" cy="22631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12480" y="4937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forecast badge and historical recurrence sparkline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640080" cy="64008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60121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Serves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34540" y="1737360"/>
            <a:ext cx="777240" cy="77724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419" y="1912239"/>
            <a:ext cx="427482" cy="4274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Cleanup Crews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05840" y="3108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ranked, actionable list of where to deploy water-mist cannons and crews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434840" y="1463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37860" y="1737360"/>
            <a:ext cx="777240" cy="77724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739" y="1912239"/>
            <a:ext cx="427482" cy="4274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MP's Office &amp; District Officials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709160" y="3108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5-minute-readable briefing per zone, no technical background needed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38160" y="1463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441180" y="1737360"/>
            <a:ext cx="777240" cy="77724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6059" y="1912239"/>
            <a:ext cx="427482" cy="4274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412480" y="3108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source, and see it acknowledged when it shapes the live map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31520" y="4114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7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21" name="Text 15"/>
          <p:cNvSpPr/>
          <p:nvPr/>
        </p:nvSpPr>
        <p:spPr>
          <a:xfrm>
            <a:off x="731520" y="5029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monitored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Delhi NCR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434840" y="4114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7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~1.42M</a:t>
            </a:r>
            <a:endParaRPr lang="en-US" sz="4400" dirty="0"/>
          </a:p>
        </p:txBody>
      </p:sp>
      <p:sp>
        <p:nvSpPr>
          <p:cNvPr id="23" name="Text 17"/>
          <p:cNvSpPr/>
          <p:nvPr/>
        </p:nvSpPr>
        <p:spPr>
          <a:xfrm>
            <a:off x="4434840" y="5029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estimated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monitored zones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138160" y="4114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7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4400" dirty="0"/>
          </a:p>
        </p:txBody>
      </p:sp>
      <p:sp>
        <p:nvSpPr>
          <p:cNvPr id="25" name="Text 19"/>
          <p:cNvSpPr/>
          <p:nvPr/>
        </p:nvSpPr>
        <p:spPr>
          <a:xfrm>
            <a:off x="8138160" y="5029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hospitals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near hotspots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640080" cy="64008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60121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Inclusivity &amp; Accessibility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55448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0" y="1874520"/>
            <a:ext cx="822960" cy="8229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46" y="2059686"/>
            <a:ext cx="452628" cy="452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Hindi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05840" y="3383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label, action, and AI briefing switches language instantly — including zone names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434840" y="155448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15000" y="1874520"/>
            <a:ext cx="822960" cy="8229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166" y="2059686"/>
            <a:ext cx="452628" cy="4526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Playback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709160" y="3383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text-to-speech reads any briefing aloud, for low-literacy users, in either language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38160" y="155448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418320" y="1874520"/>
            <a:ext cx="822960" cy="82296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486" y="2059686"/>
            <a:ext cx="452628" cy="4526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412480" y="3383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layout reflows for phones — the device most citizens will actually use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runs on free, zero-quota infrastructure: hand-maintained translations, the browser's native SpeechSynthesis API, and pure CSS reflow — no per-request cost, ever.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640080" cy="64008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60121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Deployable Today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" y="1698498"/>
            <a:ext cx="352044" cy="3520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1640" y="1508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cost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754880" y="150876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free Spark plan + GitHub Actions + free-tier APIs — no billing account anywhere in the stack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22960" y="2514600"/>
            <a:ext cx="640080" cy="64008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2658618"/>
            <a:ext cx="352044" cy="3520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91640" y="24688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pipeline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4754880" y="24688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steps — three independent GitHub Actions schedules keep it running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22960" y="3474720"/>
            <a:ext cx="640080" cy="64008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3618738"/>
            <a:ext cx="352044" cy="3520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91640" y="3429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in production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754880" y="342900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local demo — a real, public URL running on its own schedule today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31520" y="4663440"/>
            <a:ext cx="10698480" cy="1554480"/>
          </a:xfrm>
          <a:prstGeom prst="roundRect">
            <a:avLst>
              <a:gd name="adj" fmla="val 4706"/>
            </a:avLst>
          </a:prstGeom>
          <a:solidFill>
            <a:srgbClr val="1B1F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100584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Refresh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05840" y="5349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 hours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448056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480560" y="5349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95528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Data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955280" y="5349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640080" cy="64008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60121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Recurring Problem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AQI trend — Anand Vihar (real data from our system)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69164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955280" y="20116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03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7955280" y="30175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last 30 days had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"Poor" air quality (AQI &gt; 200)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single zone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one-off reading — it's a persistent pattern the system tracks automatically for every zone.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640080" cy="64008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60121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Beyond Delhi NCR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37160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architecture: every zone is one entry in a single JSON file. Adding a new city means adding its monitoring stations to that file — no code changes to the fusion, prediction, or dashboard logic.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roadmap — what's next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200400"/>
            <a:ext cx="594360" cy="594360"/>
          </a:xfrm>
          <a:prstGeom prst="ellipse">
            <a:avLst/>
          </a:prstGeom>
          <a:solidFill>
            <a:srgbClr val="FDEDD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91" y="3334131"/>
            <a:ext cx="326898" cy="3268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1546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SMS citizen intake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029200" y="31546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citizens without a smartphone or data connection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rgbClr val="FDEDD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4294251"/>
            <a:ext cx="326898" cy="3268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1148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municipal alerts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029200" y="41148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notification the moment a zone newly crosses severe, instead of requiring a dashboard check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5120640"/>
            <a:ext cx="594360" cy="594360"/>
          </a:xfrm>
          <a:prstGeom prst="ellipse">
            <a:avLst/>
          </a:prstGeom>
          <a:solidFill>
            <a:srgbClr val="FDEDD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" y="5254371"/>
            <a:ext cx="326898" cy="3268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50749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Engine satellite imagery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029200" y="50749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aerosol/visual satellite layers alongside our current NASA FIRMS fire-detection data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Live</a:t>
            </a:r>
            <a:endParaRPr lang="en-US" sz="4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u="sng" dirty="0">
                <a:solidFill>
                  <a:srgbClr val="9FD3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gen-lang-client-0882700239.web.app</a:t>
            </a:r>
            <a:endParaRPr lang="en-US" sz="2000" dirty="0"/>
          </a:p>
        </p:txBody>
      </p:sp>
      <p:sp>
        <p:nvSpPr>
          <p:cNvPr id="4" name="Text 2">
            <a:hlinkClick r:id="rId2" tooltip=""/>
          </p:cNvPr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9FD3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github.com/anujtrivedi06/cleanair-clearstreets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CleanAir &amp; Clear Streets — Build with AI: Code for Communities</dc:title>
  <dc:subject>PptxGenJS Presentation</dc:subject>
  <dc:creator>CleanAir &amp; Clear Streets</dc:creator>
  <cp:lastModifiedBy>CleanAir &amp; Clear Streets</cp:lastModifiedBy>
  <cp:revision>1</cp:revision>
  <dcterms:created xsi:type="dcterms:W3CDTF">2026-07-06T17:47:10Z</dcterms:created>
  <dcterms:modified xsi:type="dcterms:W3CDTF">2026-07-06T17:47:10Z</dcterms:modified>
</cp:coreProperties>
</file>