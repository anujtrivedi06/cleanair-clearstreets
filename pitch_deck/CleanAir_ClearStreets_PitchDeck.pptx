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38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AQI</c:v>
                </c:pt>
              </c:strCache>
            </c:strRef>
          </c:tx>
          <c:spPr>
            <a:ln w="31750" cap="flat">
              <a:solidFill>
                <a:srgbClr val="D0342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0342C"/>
              </a:solidFill>
              <a:ln w="9525" cap="flat">
                <a:solidFill>
                  <a:srgbClr val="D0342C"/>
                </a:solidFill>
                <a:prstDash val="solid"/>
                <a:round/>
              </a:ln>
              <a:effectLst/>
            </c:spPr>
          </c:marker>
          <c:cat>
            <c:strRef>
              <c:f>Sheet1!$A$2:$A$31</c:f>
              <c:strCache>
                <c:ptCount val="3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  <c:pt idx="10">
                  <c:v>D11</c:v>
                </c:pt>
                <c:pt idx="11">
                  <c:v>D12</c:v>
                </c:pt>
                <c:pt idx="12">
                  <c:v>D13</c:v>
                </c:pt>
                <c:pt idx="13">
                  <c:v>D14</c:v>
                </c:pt>
                <c:pt idx="14">
                  <c:v>D15</c:v>
                </c:pt>
                <c:pt idx="15">
                  <c:v>D16</c:v>
                </c:pt>
                <c:pt idx="16">
                  <c:v>D17</c:v>
                </c:pt>
                <c:pt idx="17">
                  <c:v>D18</c:v>
                </c:pt>
                <c:pt idx="18">
                  <c:v>D19</c:v>
                </c:pt>
                <c:pt idx="19">
                  <c:v>D20</c:v>
                </c:pt>
                <c:pt idx="20">
                  <c:v>D21</c:v>
                </c:pt>
                <c:pt idx="21">
                  <c:v>D22</c:v>
                </c:pt>
                <c:pt idx="22">
                  <c:v>D23</c:v>
                </c:pt>
                <c:pt idx="23">
                  <c:v>D24</c:v>
                </c:pt>
                <c:pt idx="24">
                  <c:v>D25</c:v>
                </c:pt>
                <c:pt idx="25">
                  <c:v>D26</c:v>
                </c:pt>
                <c:pt idx="26">
                  <c:v>D27</c:v>
                </c:pt>
                <c:pt idx="27">
                  <c:v>D28</c:v>
                </c:pt>
                <c:pt idx="28">
                  <c:v>D29</c:v>
                </c:pt>
                <c:pt idx="29">
                  <c:v>D30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170.4</c:v>
                </c:pt>
                <c:pt idx="1">
                  <c:v>239.6</c:v>
                </c:pt>
                <c:pt idx="2">
                  <c:v>308.3</c:v>
                </c:pt>
                <c:pt idx="3">
                  <c:v>308.5</c:v>
                </c:pt>
                <c:pt idx="4">
                  <c:v>420.9</c:v>
                </c:pt>
                <c:pt idx="5">
                  <c:v>511.1</c:v>
                </c:pt>
                <c:pt idx="6">
                  <c:v>235.5</c:v>
                </c:pt>
                <c:pt idx="7">
                  <c:v>243.9</c:v>
                </c:pt>
                <c:pt idx="8">
                  <c:v>252.9</c:v>
                </c:pt>
                <c:pt idx="9">
                  <c:v>285.7</c:v>
                </c:pt>
                <c:pt idx="10">
                  <c:v>293.3</c:v>
                </c:pt>
                <c:pt idx="11">
                  <c:v>293.39999999999998</c:v>
                </c:pt>
                <c:pt idx="12">
                  <c:v>204.4</c:v>
                </c:pt>
                <c:pt idx="13">
                  <c:v>383.1</c:v>
                </c:pt>
                <c:pt idx="14">
                  <c:v>327.2</c:v>
                </c:pt>
                <c:pt idx="15">
                  <c:v>374</c:v>
                </c:pt>
                <c:pt idx="16">
                  <c:v>318.5</c:v>
                </c:pt>
                <c:pt idx="17">
                  <c:v>197</c:v>
                </c:pt>
                <c:pt idx="18">
                  <c:v>237.9</c:v>
                </c:pt>
                <c:pt idx="19">
                  <c:v>187</c:v>
                </c:pt>
                <c:pt idx="20">
                  <c:v>127.4</c:v>
                </c:pt>
                <c:pt idx="21">
                  <c:v>181.1</c:v>
                </c:pt>
                <c:pt idx="22">
                  <c:v>148.69999999999999</c:v>
                </c:pt>
                <c:pt idx="23">
                  <c:v>292.5</c:v>
                </c:pt>
                <c:pt idx="24">
                  <c:v>418.9</c:v>
                </c:pt>
                <c:pt idx="25">
                  <c:v>132.80000000000001</c:v>
                </c:pt>
                <c:pt idx="26">
                  <c:v>80.599999999999994</c:v>
                </c:pt>
                <c:pt idx="27">
                  <c:v>57.6</c:v>
                </c:pt>
                <c:pt idx="28">
                  <c:v>143.19999999999999</c:v>
                </c:pt>
                <c:pt idx="29">
                  <c:v>205.2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DC3-409B-9073-3CF027338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"Poor" threshold (200)</c:v>
                </c:pt>
              </c:strCache>
            </c:strRef>
          </c:tx>
          <c:spPr>
            <a:ln w="12700" cap="flat">
              <a:solidFill>
                <a:srgbClr val="667085"/>
              </a:solidFill>
              <a:prstDash val="dash"/>
              <a:round/>
            </a:ln>
            <a:effectLst/>
          </c:spPr>
          <c:marker>
            <c:symbol val="circle"/>
            <c:size val="6"/>
            <c:spPr>
              <a:solidFill>
                <a:srgbClr val="667085"/>
              </a:solidFill>
              <a:ln w="9525" cap="flat">
                <a:solidFill>
                  <a:srgbClr val="667085"/>
                </a:solidFill>
                <a:prstDash val="solid"/>
                <a:round/>
              </a:ln>
              <a:effectLst/>
            </c:spPr>
          </c:marker>
          <c:cat>
            <c:strRef>
              <c:f>Sheet1!$A$2:$A$31</c:f>
              <c:strCache>
                <c:ptCount val="30"/>
                <c:pt idx="0">
                  <c:v>D1</c:v>
                </c:pt>
                <c:pt idx="1">
                  <c:v>D2</c:v>
                </c:pt>
                <c:pt idx="2">
                  <c:v>D3</c:v>
                </c:pt>
                <c:pt idx="3">
                  <c:v>D4</c:v>
                </c:pt>
                <c:pt idx="4">
                  <c:v>D5</c:v>
                </c:pt>
                <c:pt idx="5">
                  <c:v>D6</c:v>
                </c:pt>
                <c:pt idx="6">
                  <c:v>D7</c:v>
                </c:pt>
                <c:pt idx="7">
                  <c:v>D8</c:v>
                </c:pt>
                <c:pt idx="8">
                  <c:v>D9</c:v>
                </c:pt>
                <c:pt idx="9">
                  <c:v>D10</c:v>
                </c:pt>
                <c:pt idx="10">
                  <c:v>D11</c:v>
                </c:pt>
                <c:pt idx="11">
                  <c:v>D12</c:v>
                </c:pt>
                <c:pt idx="12">
                  <c:v>D13</c:v>
                </c:pt>
                <c:pt idx="13">
                  <c:v>D14</c:v>
                </c:pt>
                <c:pt idx="14">
                  <c:v>D15</c:v>
                </c:pt>
                <c:pt idx="15">
                  <c:v>D16</c:v>
                </c:pt>
                <c:pt idx="16">
                  <c:v>D17</c:v>
                </c:pt>
                <c:pt idx="17">
                  <c:v>D18</c:v>
                </c:pt>
                <c:pt idx="18">
                  <c:v>D19</c:v>
                </c:pt>
                <c:pt idx="19">
                  <c:v>D20</c:v>
                </c:pt>
                <c:pt idx="20">
                  <c:v>D21</c:v>
                </c:pt>
                <c:pt idx="21">
                  <c:v>D22</c:v>
                </c:pt>
                <c:pt idx="22">
                  <c:v>D23</c:v>
                </c:pt>
                <c:pt idx="23">
                  <c:v>D24</c:v>
                </c:pt>
                <c:pt idx="24">
                  <c:v>D25</c:v>
                </c:pt>
                <c:pt idx="25">
                  <c:v>D26</c:v>
                </c:pt>
                <c:pt idx="26">
                  <c:v>D27</c:v>
                </c:pt>
                <c:pt idx="27">
                  <c:v>D28</c:v>
                </c:pt>
                <c:pt idx="28">
                  <c:v>D29</c:v>
                </c:pt>
                <c:pt idx="29">
                  <c:v>D30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200</c:v>
                </c:pt>
                <c:pt idx="1">
                  <c:v>200</c:v>
                </c:pt>
                <c:pt idx="2">
                  <c:v>200</c:v>
                </c:pt>
                <c:pt idx="3">
                  <c:v>200</c:v>
                </c:pt>
                <c:pt idx="4">
                  <c:v>200</c:v>
                </c:pt>
                <c:pt idx="5">
                  <c:v>200</c:v>
                </c:pt>
                <c:pt idx="6">
                  <c:v>200</c:v>
                </c:pt>
                <c:pt idx="7">
                  <c:v>200</c:v>
                </c:pt>
                <c:pt idx="8">
                  <c:v>200</c:v>
                </c:pt>
                <c:pt idx="9">
                  <c:v>200</c:v>
                </c:pt>
                <c:pt idx="10">
                  <c:v>200</c:v>
                </c:pt>
                <c:pt idx="11">
                  <c:v>200</c:v>
                </c:pt>
                <c:pt idx="12">
                  <c:v>200</c:v>
                </c:pt>
                <c:pt idx="13">
                  <c:v>200</c:v>
                </c:pt>
                <c:pt idx="14">
                  <c:v>200</c:v>
                </c:pt>
                <c:pt idx="15">
                  <c:v>200</c:v>
                </c:pt>
                <c:pt idx="16">
                  <c:v>200</c:v>
                </c:pt>
                <c:pt idx="17">
                  <c:v>200</c:v>
                </c:pt>
                <c:pt idx="18">
                  <c:v>200</c:v>
                </c:pt>
                <c:pt idx="19">
                  <c:v>200</c:v>
                </c:pt>
                <c:pt idx="20">
                  <c:v>200</c:v>
                </c:pt>
                <c:pt idx="21">
                  <c:v>200</c:v>
                </c:pt>
                <c:pt idx="22">
                  <c:v>200</c:v>
                </c:pt>
                <c:pt idx="23">
                  <c:v>200</c:v>
                </c:pt>
                <c:pt idx="24">
                  <c:v>200</c:v>
                </c:pt>
                <c:pt idx="25">
                  <c:v>200</c:v>
                </c:pt>
                <c:pt idx="26">
                  <c:v>200</c:v>
                </c:pt>
                <c:pt idx="27">
                  <c:v>200</c:v>
                </c:pt>
                <c:pt idx="28">
                  <c:v>200</c:v>
                </c:pt>
                <c:pt idx="29">
                  <c:v>200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DC3-409B-9073-3CF027338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098A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098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0688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en-lang-client-0882700239.web.ap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en-lang-client-0882700239.web.app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nujtrivedi06/cleanair-clearstree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CleanAir &amp; Clear Streets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9F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pollution hotspot detection &amp; forecasting for Delhi NCR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4160520"/>
            <a:ext cx="4846320" cy="457200"/>
          </a:xfrm>
          <a:prstGeom prst="roundRect">
            <a:avLst>
              <a:gd name="adj" fmla="val 16000"/>
            </a:avLst>
          </a:prstGeom>
          <a:solidFill>
            <a:srgbClr val="1A73E8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" name="Text 3"/>
          <p:cNvSpPr/>
          <p:nvPr/>
        </p:nvSpPr>
        <p:spPr>
          <a:xfrm>
            <a:off x="635726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6" name="Text 4">
            <a:hlinkClick r:id="rId3"/>
          </p:cNvPr>
          <p:cNvSpPr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u="sng" dirty="0">
                <a:solidFill>
                  <a:srgbClr val="9FD3F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at gen-lang-client-0882700239.web.app</a:t>
            </a:r>
            <a:endParaRPr lang="en-US" sz="13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A65179EA-16EA-8E9A-66C5-34C8376FF6F9}"/>
              </a:ext>
            </a:extLst>
          </p:cNvPr>
          <p:cNvSpPr/>
          <p:nvPr/>
        </p:nvSpPr>
        <p:spPr>
          <a:xfrm>
            <a:off x="1547949" y="4119154"/>
            <a:ext cx="302187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dirty="0"/>
              <a:t>Team – Code Smashers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640080" cy="640080"/>
          </a:xfrm>
          <a:prstGeom prst="ellipse">
            <a:avLst/>
          </a:prstGeom>
          <a:solidFill>
            <a:srgbClr val="FBEAEA"/>
          </a:solidFill>
          <a:ln/>
        </p:spPr>
      </p:sp>
      <p:sp>
        <p:nvSpPr>
          <p:cNvPr id="4" name="Text 1"/>
          <p:cNvSpPr/>
          <p:nvPr/>
        </p:nvSpPr>
        <p:spPr>
          <a:xfrm>
            <a:off x="155448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AQI apps miss hyper-local pollution events. These blind spots directly harm nearby residents, and municipal teams have no way to know where to deploy cleanup crews or water-mist cannons before a spike happens.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31520" y="274320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011680" y="3063240"/>
            <a:ext cx="822960" cy="822960"/>
          </a:xfrm>
          <a:prstGeom prst="ellipse">
            <a:avLst/>
          </a:prstGeom>
          <a:solidFill>
            <a:srgbClr val="FDEDD3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846" y="3248406"/>
            <a:ext cx="452628" cy="4526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40690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dump fires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005840" y="4617720"/>
            <a:ext cx="2834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Localized, short-lived, invisible to city sensors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434840" y="274320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715000" y="3063240"/>
            <a:ext cx="822960" cy="822960"/>
          </a:xfrm>
          <a:prstGeom prst="ellipse">
            <a:avLst/>
          </a:prstGeom>
          <a:solidFill>
            <a:srgbClr val="FDEDD3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0166" y="3248406"/>
            <a:ext cx="452628" cy="45262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17720" y="40690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clusters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709160" y="4617720"/>
            <a:ext cx="2834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emissions in specific pockets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138160" y="274320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18320" y="3063240"/>
            <a:ext cx="822960" cy="822960"/>
          </a:xfrm>
          <a:prstGeom prst="ellipse">
            <a:avLst/>
          </a:prstGeom>
          <a:solidFill>
            <a:srgbClr val="FDEDD3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3486" y="3248406"/>
            <a:ext cx="452628" cy="45262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21040" y="40690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Smog-trapping junctions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412480" y="4617720"/>
            <a:ext cx="2834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+ geography creates hidden hotspots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640080" cy="64008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" y="692658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1188720"/>
          </a:xfrm>
          <a:prstGeom prst="roundRect">
            <a:avLst>
              <a:gd name="adj" fmla="val 7692"/>
            </a:avLst>
          </a:prstGeom>
          <a:solidFill>
            <a:srgbClr val="1B1F23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05840" y="1463040"/>
            <a:ext cx="10149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pollution map that fuses ground sensors, satellite data, and citizen photos into real-time hotspots, 24-hour forecasts, and plain-language AI briefings — in English and Hindi.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31520" y="3017520"/>
            <a:ext cx="731520" cy="73152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182112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45920" y="301752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31520" y="388620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CPCB sensors + satellite fire data + citizen photos into a per-zone hotspot score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434840" y="3017520"/>
            <a:ext cx="731520" cy="73152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432" y="3182112"/>
            <a:ext cx="402336" cy="40233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49240" y="301752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4434840" y="388620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each zone's AQI 24 hours ahead using a model trained on live + historical data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138160" y="3017520"/>
            <a:ext cx="731520" cy="73152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2752" y="3182112"/>
            <a:ext cx="402336" cy="40233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052560" y="301752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2000" dirty="0"/>
          </a:p>
        </p:txBody>
      </p:sp>
      <p:sp>
        <p:nvSpPr>
          <p:cNvPr id="18" name="Text 12"/>
          <p:cNvSpPr/>
          <p:nvPr/>
        </p:nvSpPr>
        <p:spPr>
          <a:xfrm>
            <a:off x="8138160" y="388620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writes a plain-language briefing reasoning about likely cause — not just numbers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640080" cy="64008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" y="601218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14173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05840" y="1645920"/>
            <a:ext cx="731520" cy="73152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1810512"/>
            <a:ext cx="402336" cy="4023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874520" y="15270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Photos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874520" y="1965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classifies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/ dust / haze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526280" y="14173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709160" y="1645920"/>
            <a:ext cx="731520" cy="73152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3752" y="1810512"/>
            <a:ext cx="402336" cy="40233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577840" y="15270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Ground Sensors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5577840" y="1965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PM2.5 / PM10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readings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229600" y="14173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412480" y="1645920"/>
            <a:ext cx="731520" cy="73152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1810512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81160" y="15270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Satellite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81160" y="1965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fire / smoke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2368296" y="2651760"/>
            <a:ext cx="109728" cy="320040"/>
          </a:xfrm>
          <a:prstGeom prst="downArrow">
            <a:avLst/>
          </a:prstGeom>
          <a:solidFill>
            <a:srgbClr val="667085"/>
          </a:solidFill>
          <a:ln/>
        </p:spPr>
      </p:sp>
      <p:sp>
        <p:nvSpPr>
          <p:cNvPr id="21" name="Shape 15"/>
          <p:cNvSpPr/>
          <p:nvPr/>
        </p:nvSpPr>
        <p:spPr>
          <a:xfrm>
            <a:off x="6071616" y="2651760"/>
            <a:ext cx="109728" cy="320040"/>
          </a:xfrm>
          <a:prstGeom prst="downArrow">
            <a:avLst/>
          </a:prstGeom>
          <a:solidFill>
            <a:srgbClr val="667085"/>
          </a:solidFill>
          <a:ln/>
        </p:spPr>
      </p:sp>
      <p:sp>
        <p:nvSpPr>
          <p:cNvPr id="22" name="Shape 16"/>
          <p:cNvSpPr/>
          <p:nvPr/>
        </p:nvSpPr>
        <p:spPr>
          <a:xfrm>
            <a:off x="9774936" y="2651760"/>
            <a:ext cx="109728" cy="320040"/>
          </a:xfrm>
          <a:prstGeom prst="downArrow">
            <a:avLst/>
          </a:prstGeom>
          <a:solidFill>
            <a:srgbClr val="667085"/>
          </a:solidFill>
          <a:ln/>
        </p:spPr>
      </p:sp>
      <p:sp>
        <p:nvSpPr>
          <p:cNvPr id="23" name="Shape 17"/>
          <p:cNvSpPr/>
          <p:nvPr/>
        </p:nvSpPr>
        <p:spPr>
          <a:xfrm>
            <a:off x="822960" y="306324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B1F23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1051560" y="3246120"/>
            <a:ext cx="594360" cy="594360"/>
          </a:xfrm>
          <a:prstGeom prst="ellipse">
            <a:avLst/>
          </a:prstGeom>
          <a:solidFill>
            <a:srgbClr val="1A73E8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5291" y="3379851"/>
            <a:ext cx="326898" cy="32689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828800" y="313639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Fusion Engine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1828800" y="35661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ground AQI + 30% satellite fire data + 20% citizen photo severity = one 0-1 score / zone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035040" y="4069080"/>
            <a:ext cx="109728" cy="274320"/>
          </a:xfrm>
          <a:prstGeom prst="downArrow">
            <a:avLst/>
          </a:prstGeom>
          <a:solidFill>
            <a:srgbClr val="667085"/>
          </a:solidFill>
          <a:ln/>
        </p:spPr>
      </p:sp>
      <p:sp>
        <p:nvSpPr>
          <p:cNvPr id="29" name="Shape 22"/>
          <p:cNvSpPr/>
          <p:nvPr/>
        </p:nvSpPr>
        <p:spPr>
          <a:xfrm>
            <a:off x="1645920" y="443484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1828800" y="4636008"/>
            <a:ext cx="594360" cy="594360"/>
          </a:xfrm>
          <a:prstGeom prst="ellipse">
            <a:avLst/>
          </a:prstGeom>
          <a:solidFill>
            <a:srgbClr val="FDEDD3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62531" y="4769739"/>
            <a:ext cx="326898" cy="32689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2606040" y="454456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 AQI Prediction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2606040" y="4937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model, live + historical training data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6766560" y="443484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6949440" y="4636008"/>
            <a:ext cx="594360" cy="594360"/>
          </a:xfrm>
          <a:prstGeom prst="ellipse">
            <a:avLst/>
          </a:prstGeom>
          <a:solidFill>
            <a:srgbClr val="FDEDD3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3171" y="4769739"/>
            <a:ext cx="326898" cy="32689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726680" y="454456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AI Briefing</a:t>
            </a:r>
            <a:endParaRPr lang="en-US" sz="1300" dirty="0"/>
          </a:p>
        </p:txBody>
      </p:sp>
      <p:sp>
        <p:nvSpPr>
          <p:cNvPr id="38" name="Text 29"/>
          <p:cNvSpPr/>
          <p:nvPr/>
        </p:nvSpPr>
        <p:spPr>
          <a:xfrm>
            <a:off x="7726680" y="4937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(Groq fallback) reasons about cause, EN + HI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6035040" y="5486400"/>
            <a:ext cx="109728" cy="256032"/>
          </a:xfrm>
          <a:prstGeom prst="downArrow">
            <a:avLst/>
          </a:prstGeom>
          <a:solidFill>
            <a:srgbClr val="667085"/>
          </a:solidFill>
          <a:ln/>
        </p:spPr>
      </p:sp>
      <p:sp>
        <p:nvSpPr>
          <p:cNvPr id="40" name="Text 31"/>
          <p:cNvSpPr/>
          <p:nvPr/>
        </p:nvSpPr>
        <p:spPr>
          <a:xfrm>
            <a:off x="1645920" y="5760720"/>
            <a:ext cx="8869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map, ranked zones, alerts, EN/HI + voice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640080" cy="64008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" y="692658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5486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 Action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3152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distinct AI roles — each doing real interpretive work, not decoration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1920240"/>
            <a:ext cx="685800" cy="68580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265" y="2074545"/>
            <a:ext cx="377190" cy="37719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83080" y="187452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Classification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663440" y="187452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(via Firebase AI Logic) classifies each citizen photo into smoke, dust, garbage burning, haze, or none — with a severity score and a one-sentence reasoning, not just a label.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822960" y="3337560"/>
            <a:ext cx="685800" cy="68580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265" y="3491865"/>
            <a:ext cx="377190" cy="37719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83080" y="329184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Forecasting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4663440" y="329184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regression model forecasts each zone's AQI 24 hours ahead, trained on real CPCB + weather data accumulated live, bootstrapped with historical reanalysis data — clearly tagged as such.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822960" y="4754880"/>
            <a:ext cx="685800" cy="68580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265" y="4909185"/>
            <a:ext cx="377190" cy="37719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783080" y="470916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Reasoning Briefing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4663440" y="470916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(falling back to Groq/Llama automatically if quota is exhausted) writes a plain-language briefing per zone — explaining likely cause, in English and Hindi, generated together in one call.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640080" cy="64008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" y="601218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Live Dashboard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371600"/>
            <a:ext cx="6858000" cy="4937760"/>
          </a:xfrm>
          <a:prstGeom prst="roundRect">
            <a:avLst>
              <a:gd name="adj" fmla="val 1111"/>
            </a:avLst>
          </a:prstGeom>
          <a:solidFill>
            <a:srgbClr val="F7F7F8"/>
          </a:solidFill>
          <a:ln w="19050">
            <a:solidFill>
              <a:srgbClr val="C7CBD1"/>
            </a:solidFill>
            <a:prstDash val="dash"/>
          </a:ln>
        </p:spPr>
      </p:sp>
      <p:sp>
        <p:nvSpPr>
          <p:cNvPr id="6" name="Text 3"/>
          <p:cNvSpPr/>
          <p:nvPr/>
        </p:nvSpPr>
        <p:spPr>
          <a:xfrm>
            <a:off x="731520" y="338328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09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dashboard screenshot here ]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909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gen-lang-client-0882700239.web.app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3536" y="1554480"/>
            <a:ext cx="411480" cy="41148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6119" y="1647063"/>
            <a:ext cx="226314" cy="22631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772176" y="15087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ranked by AQI, colour-coded by severity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8223536" y="2697480"/>
            <a:ext cx="411480" cy="41148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6119" y="2790063"/>
            <a:ext cx="226314" cy="22631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772176" y="26517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map with hotspot markers + school/hospital icons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3536" y="3840480"/>
            <a:ext cx="411480" cy="41148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6119" y="3933063"/>
            <a:ext cx="226314" cy="22631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772176" y="37947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briefing per zone, in English or Hindi + voice playback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8223536" y="4983480"/>
            <a:ext cx="411480" cy="41148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6119" y="5076063"/>
            <a:ext cx="226314" cy="22631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772176" y="49377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 forecast badge and historical recurrence sparkline</a:t>
            </a:r>
            <a:endParaRPr lang="en-US" sz="12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38395CA-F5AA-1C90-698A-D686139A4D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56"/>
          <a:stretch>
            <a:fillRect/>
          </a:stretch>
        </p:blipFill>
        <p:spPr>
          <a:xfrm>
            <a:off x="140192" y="1175796"/>
            <a:ext cx="7766336" cy="53120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640080" cy="64008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" y="601218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 Serves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034540" y="1737360"/>
            <a:ext cx="777240" cy="77724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419" y="1912239"/>
            <a:ext cx="427482" cy="42748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2651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 Cleanup Crews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005840" y="3108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ranked, actionable list of where to deploy water-mist cannons and crews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434840" y="14630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737860" y="1737360"/>
            <a:ext cx="777240" cy="77724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2739" y="1912239"/>
            <a:ext cx="427482" cy="42748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17720" y="2651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MP's Office &amp; District Officials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709160" y="3108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5-minute-readable briefing per zone, no technical background needed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138160" y="146304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441180" y="1737360"/>
            <a:ext cx="777240" cy="77724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6059" y="1912239"/>
            <a:ext cx="427482" cy="42748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321040" y="2651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412480" y="3108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 source, and see it acknowledged when it shapes the live map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731520" y="4114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7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400" dirty="0"/>
          </a:p>
        </p:txBody>
      </p:sp>
      <p:sp>
        <p:nvSpPr>
          <p:cNvPr id="21" name="Text 15"/>
          <p:cNvSpPr/>
          <p:nvPr/>
        </p:nvSpPr>
        <p:spPr>
          <a:xfrm>
            <a:off x="731520" y="50292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monitored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Delhi NCR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4434840" y="4114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7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~1.42M</a:t>
            </a:r>
            <a:endParaRPr lang="en-US" sz="4400" dirty="0"/>
          </a:p>
        </p:txBody>
      </p:sp>
      <p:sp>
        <p:nvSpPr>
          <p:cNvPr id="23" name="Text 17"/>
          <p:cNvSpPr/>
          <p:nvPr/>
        </p:nvSpPr>
        <p:spPr>
          <a:xfrm>
            <a:off x="4434840" y="50292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estimated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monitored zones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138160" y="4114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7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</a:t>
            </a:r>
            <a:endParaRPr lang="en-US" sz="4400" dirty="0"/>
          </a:p>
        </p:txBody>
      </p:sp>
      <p:sp>
        <p:nvSpPr>
          <p:cNvPr id="25" name="Text 19"/>
          <p:cNvSpPr/>
          <p:nvPr/>
        </p:nvSpPr>
        <p:spPr>
          <a:xfrm>
            <a:off x="8138160" y="50292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&amp; hospitals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near hotspots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640080" cy="64008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" y="601218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Inclusivity &amp; Accessibility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31520" y="155448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011680" y="1874520"/>
            <a:ext cx="822960" cy="82296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846" y="2059686"/>
            <a:ext cx="452628" cy="4526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2880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+ Hindi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005840" y="33832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label, action, and AI briefing switches language instantly — including zone names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434840" y="155448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715000" y="1874520"/>
            <a:ext cx="822960" cy="82296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0166" y="2059686"/>
            <a:ext cx="452628" cy="4526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17720" y="2880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Playback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4709160" y="33832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text-to-speech reads any briefing aloud, for low-literacy users, in either language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138160" y="155448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7F7F8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418320" y="1874520"/>
            <a:ext cx="822960" cy="822960"/>
          </a:xfrm>
          <a:prstGeom prst="ellipse">
            <a:avLst/>
          </a:prstGeom>
          <a:solidFill>
            <a:srgbClr val="E6F4EA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3486" y="2059686"/>
            <a:ext cx="452628" cy="4526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321040" y="28803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Mobile-Responsive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8412480" y="33832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layout reflows for phones — the device most citizens will actually use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31520" y="4754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runs on free, zero-quota infrastructure: hand-maintained translations, the browser's native SpeechSynthesis API, and pure CSS reflow — no per-request cost, ever.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640080" cy="64008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" y="601218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Deployable Today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978" y="1698498"/>
            <a:ext cx="352044" cy="3520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91640" y="15087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infrastructure cost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4754880" y="1508760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free Spark plan + GitHub Actions + free-tier APIs — no billing account anywhere in the stack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22960" y="2514600"/>
            <a:ext cx="640080" cy="64008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978" y="2658618"/>
            <a:ext cx="352044" cy="3520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91640" y="24688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 pipeline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4754880" y="2468880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manual steps — three independent GitHub Actions schedules keep it running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474720"/>
            <a:ext cx="640080" cy="64008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978" y="3618738"/>
            <a:ext cx="352044" cy="3520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91640" y="34290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live in production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4754880" y="3429000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local demo — a real, public URL running on its own schedule today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731520" y="4663440"/>
            <a:ext cx="10698480" cy="1554480"/>
          </a:xfrm>
          <a:prstGeom prst="roundRect">
            <a:avLst>
              <a:gd name="adj" fmla="val 4706"/>
            </a:avLst>
          </a:prstGeom>
          <a:solidFill>
            <a:srgbClr val="1B1F23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2"/>
          <p:cNvSpPr/>
          <p:nvPr/>
        </p:nvSpPr>
        <p:spPr>
          <a:xfrm>
            <a:off x="1005840" y="4892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005840" y="5349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F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3 hours</a:t>
            </a:r>
            <a:endParaRPr lang="en-US" sz="2200" dirty="0"/>
          </a:p>
        </p:txBody>
      </p:sp>
      <p:sp>
        <p:nvSpPr>
          <p:cNvPr id="20" name="Text 14"/>
          <p:cNvSpPr/>
          <p:nvPr/>
        </p:nvSpPr>
        <p:spPr>
          <a:xfrm>
            <a:off x="4480560" y="4892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Briefings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4480560" y="5349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F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7955280" y="4892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Data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955280" y="5349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F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640080" cy="640080"/>
          </a:xfrm>
          <a:prstGeom prst="ellipse">
            <a:avLst/>
          </a:prstGeom>
          <a:solidFill>
            <a:srgbClr val="FBEAE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" y="601218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4572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a Recurring Problem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AQI trend — Anand Vihar (real data from our system)</a:t>
            </a:r>
            <a:endParaRPr lang="en-US" sz="13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731520" y="1691640"/>
          <a:ext cx="69494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7955280" y="201168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D03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400" dirty="0"/>
          </a:p>
        </p:txBody>
      </p:sp>
      <p:sp>
        <p:nvSpPr>
          <p:cNvPr id="8" name="Text 4"/>
          <p:cNvSpPr/>
          <p:nvPr/>
        </p:nvSpPr>
        <p:spPr>
          <a:xfrm>
            <a:off x="7955280" y="30175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last 30 days had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"Poor" air quality (AQI &gt; 200)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single zone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a one-off reading — it's a persistent pattern the system tracks automatically for every zone.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640080" cy="640080"/>
          </a:xfrm>
          <a:prstGeom prst="ellipse">
            <a:avLst/>
          </a:prstGeom>
          <a:solidFill>
            <a:srgbClr val="E8F0F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38" y="601218"/>
            <a:ext cx="352044" cy="3520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54480" y="45720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Beyond Delhi NCR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31520" y="13716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05840" y="1371600"/>
            <a:ext cx="10149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Config-driven architecture: every zone is one entry in a single JSON file. Adding a new city means adding its monitoring stations to that file — no code changes to the fusion, prediction, or dashboard logic.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2697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roadmap — what's next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3200400"/>
            <a:ext cx="594360" cy="594360"/>
          </a:xfrm>
          <a:prstGeom prst="ellipse">
            <a:avLst/>
          </a:prstGeom>
          <a:solidFill>
            <a:srgbClr val="FDEDD3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691" y="3334131"/>
            <a:ext cx="326898" cy="32689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00200" y="315468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SMS citizen intake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029200" y="3154680"/>
            <a:ext cx="6400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citizens without a smartphone or data connection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22960" y="4160520"/>
            <a:ext cx="594360" cy="594360"/>
          </a:xfrm>
          <a:prstGeom prst="ellipse">
            <a:avLst/>
          </a:prstGeom>
          <a:solidFill>
            <a:srgbClr val="FDEDD3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691" y="4294251"/>
            <a:ext cx="326898" cy="32689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00200" y="41148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municipal alerts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5029200" y="4114800"/>
            <a:ext cx="6400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notification the moment a zone newly crosses severe, instead of requiring a dashboard check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22960" y="5120640"/>
            <a:ext cx="594360" cy="594360"/>
          </a:xfrm>
          <a:prstGeom prst="ellipse">
            <a:avLst/>
          </a:prstGeom>
          <a:solidFill>
            <a:srgbClr val="FDEDD3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691" y="5254371"/>
            <a:ext cx="326898" cy="32689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00200" y="507492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Engine satellite imagery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5029200" y="5074920"/>
            <a:ext cx="6400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aerosol/visual satellite layers alongside our current NASA FIRMS fire-detection data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Live</a:t>
            </a:r>
            <a:endParaRPr lang="en-US" sz="4000" dirty="0"/>
          </a:p>
        </p:txBody>
      </p:sp>
      <p:sp>
        <p:nvSpPr>
          <p:cNvPr id="3" name="Text 1">
            <a:hlinkClick r:id="rId3"/>
          </p:cNvPr>
          <p:cNvSpPr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u="sng" dirty="0">
                <a:solidFill>
                  <a:srgbClr val="9FD3F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gen-lang-client-0882700239.web.app</a:t>
            </a:r>
            <a:endParaRPr lang="en-US" sz="2000" dirty="0"/>
          </a:p>
        </p:txBody>
      </p:sp>
      <p:sp>
        <p:nvSpPr>
          <p:cNvPr id="4" name="Text 2">
            <a:hlinkClick r:id="rId4"/>
          </p:cNvPr>
          <p:cNvSpPr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9FD3F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github.com/anujtrivedi06/cleanair-clearstreets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9377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854</Words>
  <Application>Microsoft Office PowerPoint</Application>
  <PresentationFormat>Widescreen</PresentationFormat>
  <Paragraphs>121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CleanAir &amp; Clear Streets — Build with AI: Code for Communities</dc:title>
  <dc:subject>PptxGenJS Presentation</dc:subject>
  <dc:creator>CleanAir &amp; Clear Streets</dc:creator>
  <cp:lastModifiedBy>ANUJ TRIVEDI</cp:lastModifiedBy>
  <cp:revision>2</cp:revision>
  <dcterms:created xsi:type="dcterms:W3CDTF">2026-07-06T17:47:10Z</dcterms:created>
  <dcterms:modified xsi:type="dcterms:W3CDTF">2026-07-08T17:20:27Z</dcterms:modified>
</cp:coreProperties>
</file>